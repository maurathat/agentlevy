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A0F1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4389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6B0"/>
                </a:solidFill>
              </a:rPr>
              <a:t>HACKATHON PITCH  ·  ETHGlobal Cannes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10972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Levy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320040" y="2743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600" kern="0" dirty="0">
                <a:solidFill>
                  <a:srgbClr val="8A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0040" y="3520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</a:rPr>
              <a:t>A token-consumption withholding mechanism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</a:rPr>
              <a:t>for the agentic economy.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4343400"/>
            <a:ext cx="5669280" cy="530352"/>
          </a:xfrm>
          <a:prstGeom prst="rect">
            <a:avLst/>
          </a:prstGeom>
          <a:solidFill>
            <a:srgbClr val="FF6B35">
              <a:alpha val="12000"/>
            </a:srgbClr>
          </a:solidFill>
          <a:ln w="9525">
            <a:solidFill>
              <a:srgbClr val="FF6B3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25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4416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TODAY: Block Inc. cut 4,000 jobs to AI — Jack Dorsey says every company will follow.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35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8961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tax base is collapsing.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5F7FA"/>
                </a:solidFill>
              </a:rPr>
              <a:t>Governments fund social safety nets through income tax. AI agents are replacing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5F7FA"/>
                </a:solidFill>
              </a:rPr>
              <a:t>the humans who paid that tax — at scale, and accelerating. But agents pay $0.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377440"/>
            <a:ext cx="8321040" cy="3657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9" name="Shape 6"/>
          <p:cNvSpPr/>
          <p:nvPr/>
        </p:nvSpPr>
        <p:spPr>
          <a:xfrm>
            <a:off x="411480" y="2514600"/>
            <a:ext cx="2651760" cy="192024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514600"/>
            <a:ext cx="2651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" y="26334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85M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76072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jobs displaced by AI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globally by end of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2514600"/>
            <a:ext cx="2651760" cy="192024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26334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4,000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3410712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Block employees cut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to AI this morning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80760" y="2514600"/>
            <a:ext cx="2651760" cy="192024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2514600"/>
            <a:ext cx="265176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9" name="Text 16"/>
          <p:cNvSpPr/>
          <p:nvPr/>
        </p:nvSpPr>
        <p:spPr>
          <a:xfrm>
            <a:off x="6245352" y="26334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6245352" y="34015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in taxes paid by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F7FA"/>
                </a:solidFill>
              </a:rPr>
              <a:t>the agents that replaced them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46451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B0"/>
                </a:solidFill>
              </a:rPr>
              <a:t>"I believe the majority of companies will reach the same conclusion and make similar structural changes."  — Jack Dorsey, Feb 26 2026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35"/>
                </a:solidFill>
              </a:rPr>
              <a:t>AI LAYOFFS — 2026 YTD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132320" y="164592"/>
            <a:ext cx="1691640" cy="347472"/>
          </a:xfrm>
          <a:prstGeom prst="rect">
            <a:avLst/>
          </a:prstGeom>
          <a:solidFill>
            <a:srgbClr val="FF6B35">
              <a:alpha val="15000"/>
            </a:srgbClr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78040" y="219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</a:rPr>
              <a:t>● LIVE DATA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2231136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822960"/>
            <a:ext cx="2231136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" y="8961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37,478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48056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Jobs lost YTD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8056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0"/>
                </a:solidFill>
              </a:rPr>
              <a:t>as of Mar 1, 2026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97480" y="822960"/>
            <a:ext cx="2231136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822960"/>
            <a:ext cx="2231136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2825496" y="8961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625/day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825496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Average daily job loss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825496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0"/>
                </a:solidFill>
              </a:rPr>
              <a:t>across all sectors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74920" y="822960"/>
            <a:ext cx="2231136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822960"/>
            <a:ext cx="2231136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5202936" y="8961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+118%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202936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vs January 2025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02936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0"/>
                </a:solidFill>
              </a:rPr>
              <a:t>highest Jan since 2009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6B0"/>
                </a:solidFill>
              </a:rPr>
              <a:t>MAJOR AI-LINKED LAYOFFS —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0040" y="2267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0"/>
                </a:solidFill>
              </a:rPr>
              <a:t>Amazon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691640" y="2304288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6" name="Shape 23"/>
          <p:cNvSpPr/>
          <p:nvPr/>
        </p:nvSpPr>
        <p:spPr>
          <a:xfrm>
            <a:off x="1691640" y="2304288"/>
            <a:ext cx="4023360" cy="201168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27" name="Text 24"/>
          <p:cNvSpPr/>
          <p:nvPr/>
        </p:nvSpPr>
        <p:spPr>
          <a:xfrm>
            <a:off x="5779008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B0"/>
                </a:solidFill>
              </a:rPr>
              <a:t>16,000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2615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Block (AI)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691640" y="2651760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0" name="Shape 27"/>
          <p:cNvSpPr/>
          <p:nvPr/>
        </p:nvSpPr>
        <p:spPr>
          <a:xfrm>
            <a:off x="1691640" y="2651760"/>
            <a:ext cx="1005840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8"/>
          <p:cNvSpPr/>
          <p:nvPr/>
        </p:nvSpPr>
        <p:spPr>
          <a:xfrm>
            <a:off x="5779008" y="2615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4,000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629400" y="2651760"/>
            <a:ext cx="548640" cy="201168"/>
          </a:xfrm>
          <a:prstGeom prst="rect">
            <a:avLst/>
          </a:prstGeom>
          <a:solidFill>
            <a:srgbClr val="FF6B35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29400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AI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0040" y="29626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Meta R.Labs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691640" y="2999232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6" name="Shape 33"/>
          <p:cNvSpPr/>
          <p:nvPr/>
        </p:nvSpPr>
        <p:spPr>
          <a:xfrm>
            <a:off x="1691640" y="2999232"/>
            <a:ext cx="377190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5779008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1,500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629400" y="2999232"/>
            <a:ext cx="548640" cy="201168"/>
          </a:xfrm>
          <a:prstGeom prst="rect">
            <a:avLst/>
          </a:prstGeom>
          <a:solidFill>
            <a:srgbClr val="FF6B35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AI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20040" y="3310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0"/>
                </a:solidFill>
              </a:rPr>
              <a:t>Mastercard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691640" y="3346704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2" name="Shape 39"/>
          <p:cNvSpPr/>
          <p:nvPr/>
        </p:nvSpPr>
        <p:spPr>
          <a:xfrm>
            <a:off x="1691640" y="3346704"/>
            <a:ext cx="352044" cy="201168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43" name="Text 40"/>
          <p:cNvSpPr/>
          <p:nvPr/>
        </p:nvSpPr>
        <p:spPr>
          <a:xfrm>
            <a:off x="5779008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B0"/>
                </a:solidFill>
              </a:rPr>
              <a:t>1,400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20040" y="3657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Nike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691640" y="3694176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6" name="Shape 43"/>
          <p:cNvSpPr/>
          <p:nvPr/>
        </p:nvSpPr>
        <p:spPr>
          <a:xfrm>
            <a:off x="1691640" y="3694176"/>
            <a:ext cx="19488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7" name="Text 44"/>
          <p:cNvSpPr/>
          <p:nvPr/>
        </p:nvSpPr>
        <p:spPr>
          <a:xfrm>
            <a:off x="5779008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775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629400" y="3694176"/>
            <a:ext cx="548640" cy="201168"/>
          </a:xfrm>
          <a:prstGeom prst="rect">
            <a:avLst/>
          </a:prstGeom>
          <a:solidFill>
            <a:srgbClr val="FF6B35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29400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AI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2004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Pinterest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1691640" y="4041648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52" name="Shape 49"/>
          <p:cNvSpPr/>
          <p:nvPr/>
        </p:nvSpPr>
        <p:spPr>
          <a:xfrm>
            <a:off x="1691640" y="4041648"/>
            <a:ext cx="176022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3" name="Text 50"/>
          <p:cNvSpPr/>
          <p:nvPr/>
        </p:nvSpPr>
        <p:spPr>
          <a:xfrm>
            <a:off x="5779008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700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629400" y="4041648"/>
            <a:ext cx="548640" cy="201168"/>
          </a:xfrm>
          <a:prstGeom prst="rect">
            <a:avLst/>
          </a:prstGeom>
          <a:solidFill>
            <a:srgbClr val="FF6B35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29400" y="4041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AI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20040" y="4352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0"/>
                </a:solidFill>
              </a:rPr>
              <a:t>Target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1691640" y="4389120"/>
            <a:ext cx="4023360" cy="20116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58" name="Shape 55"/>
          <p:cNvSpPr/>
          <p:nvPr/>
        </p:nvSpPr>
        <p:spPr>
          <a:xfrm>
            <a:off x="1691640" y="4389120"/>
            <a:ext cx="125730" cy="201168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59" name="Text 56"/>
          <p:cNvSpPr/>
          <p:nvPr/>
        </p:nvSpPr>
        <p:spPr>
          <a:xfrm>
            <a:off x="5779008" y="4352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B0"/>
                </a:solidFill>
              </a:rPr>
              <a:t>500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691640" y="459028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1" name="Text 58"/>
          <p:cNvSpPr/>
          <p:nvPr/>
        </p:nvSpPr>
        <p:spPr>
          <a:xfrm>
            <a:off x="1901952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0"/>
                </a:solidFill>
              </a:rPr>
              <a:t>AI-cited layoff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383280" y="4590288"/>
            <a:ext cx="164592" cy="164592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63" name="Text 60"/>
          <p:cNvSpPr/>
          <p:nvPr/>
        </p:nvSpPr>
        <p:spPr>
          <a:xfrm>
            <a:off x="3593592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0"/>
                </a:solidFill>
              </a:rPr>
              <a:t>Other restructuring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360920" y="822960"/>
            <a:ext cx="1463040" cy="391363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360920" y="822960"/>
            <a:ext cx="146304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6" name="Text 63"/>
          <p:cNvSpPr/>
          <p:nvPr/>
        </p:nvSpPr>
        <p:spPr>
          <a:xfrm>
            <a:off x="7406640" y="9326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2200" dirty="0"/>
          </a:p>
        </p:txBody>
      </p:sp>
      <p:sp>
        <p:nvSpPr>
          <p:cNvPr id="67" name="Text 64"/>
          <p:cNvSpPr/>
          <p:nvPr/>
        </p:nvSpPr>
        <p:spPr>
          <a:xfrm>
            <a:off x="7406640" y="1353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layoff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events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7406640" y="18653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7%</a:t>
            </a:r>
            <a:endParaRPr lang="en-US" sz="2200" dirty="0"/>
          </a:p>
        </p:txBody>
      </p:sp>
      <p:sp>
        <p:nvSpPr>
          <p:cNvPr id="69" name="Text 66"/>
          <p:cNvSpPr/>
          <p:nvPr/>
        </p:nvSpPr>
        <p:spPr>
          <a:xfrm>
            <a:off x="740664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cited AI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in Jan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7406640" y="27980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245K</a:t>
            </a:r>
            <a:endParaRPr lang="en-US" sz="2200" dirty="0"/>
          </a:p>
        </p:txBody>
      </p:sp>
      <p:sp>
        <p:nvSpPr>
          <p:cNvPr id="71" name="Text 68"/>
          <p:cNvSpPr/>
          <p:nvPr/>
        </p:nvSpPr>
        <p:spPr>
          <a:xfrm>
            <a:off x="7406640" y="32186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tech jobs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lost 2025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406640" y="37307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55K</a:t>
            </a:r>
            <a:endParaRPr lang="en-US" sz="2200" dirty="0"/>
          </a:p>
        </p:txBody>
      </p:sp>
      <p:sp>
        <p:nvSpPr>
          <p:cNvPr id="73" name="Text 70"/>
          <p:cNvSpPr/>
          <p:nvPr/>
        </p:nvSpPr>
        <p:spPr>
          <a:xfrm>
            <a:off x="7406640" y="4151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AI-cited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6B0"/>
                </a:solidFill>
              </a:rPr>
              <a:t>cuts 2025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320040" y="4773168"/>
            <a:ext cx="7223760" cy="18288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5" name="Text 72"/>
          <p:cNvSpPr/>
          <p:nvPr/>
        </p:nvSpPr>
        <p:spPr>
          <a:xfrm>
            <a:off x="320040" y="4791456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6B0"/>
                </a:solidFill>
              </a:rPr>
              <a:t>Source: Skillsyncer, Challenger Gray &amp; Christmas, InformationWeek  ·  March 1, 2026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7" name="Text 74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THE INSIGHT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868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Tax at the token.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the agent.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1480" y="23317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The IRS didn't solve income tax by chasing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millions of workers. It made employers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withhold at source.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AgentLevy does the same — levy collected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at the AI provider level, per token consumed.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F5F7FA"/>
                </a:solidFill>
              </a:rPr>
              <a:t>Enterprises never file. Agents never hide.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868680"/>
            <a:ext cx="3246120" cy="82296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42432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Payroll withholding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42432" y="1252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Employer collects → remits to IRS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56232"/>
            <a:ext cx="3246120" cy="82296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1947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Gas tax at refinery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42432" y="2240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Collected upstream, invisible at pump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2843784"/>
            <a:ext cx="3246120" cy="82296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Streaming royalties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42432" y="3227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Spotify collects per stream → artists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3831336"/>
            <a:ext cx="3246120" cy="822960"/>
          </a:xfrm>
          <a:prstGeom prst="rect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AgentLevy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742432" y="42153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Provider collects per token → retraining fund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6451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~15 AI providers control ~90% of enterprise agentic activity. Integrate there — the whole market is covered.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68680"/>
            <a:ext cx="27889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987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5544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" y="21214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Provider Integrates SDK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8912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OpenAI, Anthropic, Google, AWS Bedrock embed the AgentLevy SDK in their billing layer. Enterprise API accounts above threshold are enrolled automatically.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651760"/>
            <a:ext cx="164592" cy="320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18688" y="868680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218688" y="868680"/>
            <a:ext cx="278892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5" name="Text 10"/>
          <p:cNvSpPr/>
          <p:nvPr/>
        </p:nvSpPr>
        <p:spPr>
          <a:xfrm>
            <a:off x="3383280" y="987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54480"/>
            <a:ext cx="475488" cy="4754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83280" y="21214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Token Consumed →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Levy Triggered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38328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Every enterprise API call accumulates toward a micro-levy — a fraction of the token cost. Token consumption IS the proxy for economic activity. No workflow classification needed.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2651760"/>
            <a:ext cx="164592" cy="32004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63056" y="868680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163056" y="868680"/>
            <a:ext cx="2788920" cy="45720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22" name="Text 15"/>
          <p:cNvSpPr/>
          <p:nvPr/>
        </p:nvSpPr>
        <p:spPr>
          <a:xfrm>
            <a:off x="6327648" y="987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96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1554480"/>
            <a:ext cx="475488" cy="475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27648" y="21214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Billing Cycle Closes →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Treasury Settles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327648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At cycle end the provider submits consumption totals. AgentLevy calculates levy, Flare verifies it, a single transaction deposits to the treasury. Taxai shows the CFO.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7" name="Text 19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THE PROTOCOL STACK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841248"/>
            <a:ext cx="8503920" cy="74980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841248"/>
            <a:ext cx="54864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" y="905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</a:rPr>
              <a:t>COLLECTION LAYER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AgentLevy SDK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92354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Lightweight SDK in AI provider billing. At billing cycle close, enterprise token consumption is totalled and levy calculated. ~15 integrations covers 90% of global agentic activity.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737360"/>
            <a:ext cx="8503920" cy="74980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737360"/>
            <a:ext cx="54864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1801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D4FF"/>
                </a:solidFill>
              </a:rPr>
              <a:t>ORACLE + VERIFICATION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0352" y="2039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Flare Data Connector + FTSO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181965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Verifies billing events from provider APIs — token volume, enterprise tier, levy amount. Native enshrined oracle, no third party. Flare AI Kit handles provider attestation out of the box.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83664"/>
            <a:ext cx="384048" cy="38404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0040" y="2633472"/>
            <a:ext cx="8503920" cy="74980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2633472"/>
            <a:ext cx="54864" cy="749808"/>
          </a:xfrm>
          <a:prstGeom prst="rect">
            <a:avLst/>
          </a:prstGeom>
          <a:solidFill>
            <a:srgbClr val="8A96B0"/>
          </a:solidFill>
          <a:ln/>
        </p:spPr>
      </p:sp>
      <p:sp>
        <p:nvSpPr>
          <p:cNvPr id="19" name="Text 15"/>
          <p:cNvSpPr/>
          <p:nvPr/>
        </p:nvSpPr>
        <p:spPr>
          <a:xfrm>
            <a:off x="530352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6B0"/>
                </a:solidFill>
              </a:rPr>
              <a:t>TREASURY CONTRACT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30352" y="2935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Flare Smart Contract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291840" y="271576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Single settlement transaction per billing cycle. Levy deposited to treasury. Immutable audit trail. Taxai dashboard shows enterprises their periodic contribution and compliance proof.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79776"/>
            <a:ext cx="384048" cy="3840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20040" y="3529584"/>
            <a:ext cx="8503920" cy="74980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0040" y="3529584"/>
            <a:ext cx="54864" cy="7498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5" name="Text 20"/>
          <p:cNvSpPr/>
          <p:nvPr/>
        </p:nvSpPr>
        <p:spPr>
          <a:xfrm>
            <a:off x="530352" y="3593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A0"/>
                </a:solidFill>
              </a:rPr>
              <a:t>SETTLEMENT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30352" y="3831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XRP Ledger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291840" y="361188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Periodic institutional disbursements from treasury to verified retraining funds. Same cadence as tax remittance — quarterly or monthly. Leverages existing Flare ↔ XRPL bridge.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3675888"/>
            <a:ext cx="402336" cy="40233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20040" y="4425696"/>
            <a:ext cx="8503920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4489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FF"/>
                </a:solidFill>
              </a:rPr>
              <a:t>No streaming infrastructure. No ZBCN. No complex cross-chain. Billing cycle closes → single settlement → treasury. Like every tax system ever built.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2" name="Text 26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WHY FLARE IS THE RIGHT FOUNDATION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6304"/>
            <a:ext cx="347472" cy="34747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914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Native Oracle Infrastructure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77240" y="11887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FTSO is enshrined at the protocol level — not a third-party plugin. Validation of billing events can't be corrupted or go down.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987552"/>
            <a:ext cx="256032" cy="25603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7830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724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Flare Data Connector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777240" y="201168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Pulls verifiable data from web2 APIs directly onto Flare. Critical for attesting AI provider billing events on-chain without middleware.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810512"/>
            <a:ext cx="256032" cy="256032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606040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77240" y="2560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EVM Compatible</a:t>
            </a:r>
            <a:endParaRPr lang="en-US" sz="1300" dirty="0"/>
          </a:p>
        </p:txBody>
      </p:sp>
      <p:sp>
        <p:nvSpPr>
          <p:cNvPr id="17" name="Text 8"/>
          <p:cNvSpPr/>
          <p:nvPr/>
        </p:nvSpPr>
        <p:spPr>
          <a:xfrm>
            <a:off x="777240" y="28346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Smart contracts in Solidity. Composable with existing DeFi infrastructure. No exotic tooling required to build or audit.</a:t>
            </a:r>
            <a:endParaRPr lang="en-US" sz="11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429000"/>
            <a:ext cx="274320" cy="2743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77240" y="3383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XRP Ledger Bridge — Live</a:t>
            </a:r>
            <a:endParaRPr lang="en-US" sz="1300" dirty="0"/>
          </a:p>
        </p:txBody>
      </p:sp>
      <p:sp>
        <p:nvSpPr>
          <p:cNvPr id="20" name="Text 10"/>
          <p:cNvSpPr/>
          <p:nvPr/>
        </p:nvSpPr>
        <p:spPr>
          <a:xfrm>
            <a:off x="777240" y="36576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Flare has a live bridge to XRP Ledger. Institutional-grade settlement to retraining funds without building new cross-chain infrastructure.</a:t>
            </a:r>
            <a:endParaRPr lang="en-US" sz="11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456432"/>
            <a:ext cx="274320" cy="27432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5715000" y="914400"/>
            <a:ext cx="3108960" cy="3291840"/>
          </a:xfrm>
          <a:prstGeom prst="rect">
            <a:avLst/>
          </a:prstGeom>
          <a:solidFill>
            <a:srgbClr val="0A0F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5715000" y="914400"/>
            <a:ext cx="3108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13"/>
          <p:cNvSpPr/>
          <p:nvPr/>
        </p:nvSpPr>
        <p:spPr>
          <a:xfrm>
            <a:off x="5870448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HACKATHON FIT</a:t>
            </a:r>
            <a:endParaRPr lang="en-US" sz="900" dirty="0"/>
          </a:p>
        </p:txBody>
      </p:sp>
      <p:sp>
        <p:nvSpPr>
          <p:cNvPr id="25" name="Text 14"/>
          <p:cNvSpPr/>
          <p:nvPr/>
        </p:nvSpPr>
        <p:spPr>
          <a:xfrm>
            <a:off x="5870448" y="13167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ETHGlobal Cannes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April 3–5, 2026</a:t>
            </a:r>
            <a:endParaRPr lang="en-US" sz="2000" dirty="0"/>
          </a:p>
        </p:txBody>
      </p:sp>
      <p:sp>
        <p:nvSpPr>
          <p:cNvPr id="26" name="Shape 15"/>
          <p:cNvSpPr/>
          <p:nvPr/>
        </p:nvSpPr>
        <p:spPr>
          <a:xfrm>
            <a:off x="5870448" y="2011680"/>
            <a:ext cx="2651760" cy="3657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Text 16"/>
          <p:cNvSpPr/>
          <p:nvPr/>
        </p:nvSpPr>
        <p:spPr>
          <a:xfrm>
            <a:off x="5870448" y="2103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Flare is attending and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sponsoring EthCC Cannes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week. AgentLevy fits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directly into their DeFAI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prize track — autonomous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AI agents + on-chain data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5F7FA"/>
                </a:solidFill>
              </a:rPr>
              <a:t>+ real-world economic use.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365760" y="4343400"/>
            <a:ext cx="8366760" cy="43891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548640" y="44256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6B0"/>
                </a:solidFill>
              </a:rPr>
              <a:t>Flare AI Kit (2025) — open-source SDK for verifiable AI agent applications on Flare. AgentLevy builds directly on it.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1" name="Text 20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84124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things to govern.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different mechanisms.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74320" y="1874520"/>
            <a:ext cx="2788920" cy="27889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874520"/>
            <a:ext cx="2788920" cy="4572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Rate Setting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2395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A96B0"/>
                </a:solidFill>
              </a:rPr>
              <a:t>Multi-Stakeholder Council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8912" y="2670048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3" name="Text 9"/>
          <p:cNvSpPr/>
          <p:nvPr/>
        </p:nvSpPr>
        <p:spPr>
          <a:xfrm>
            <a:off x="438912" y="2743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11 seats: AI providers (3), enterprise operators (3), worker advocacy (2), economists (2), government observer (1, no vote). 8/11 supermajority + 180-day timelock to change rates. No surprises. CFOs can plan around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18688" y="1874520"/>
            <a:ext cx="2788920" cy="27889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18688" y="1874520"/>
            <a:ext cx="2788920" cy="45720"/>
          </a:xfrm>
          <a:prstGeom prst="rect">
            <a:avLst/>
          </a:prstGeom>
          <a:solidFill>
            <a:srgbClr val="00E5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9933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Fund Disbursement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83280" y="2395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A96B0"/>
                </a:solidFill>
              </a:rPr>
              <a:t>On-Chain Grants Process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383280" y="2670048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0" name="Text 15"/>
          <p:cNvSpPr/>
          <p:nvPr/>
        </p:nvSpPr>
        <p:spPr>
          <a:xfrm>
            <a:off x="3383280" y="2743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Treasury disbursements are public on-chain proposals, visible 30 days before execution. Any council member can veto. Recipients are KYC-verified retraining organizations. Fully auditable — no black box.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63056" y="1874520"/>
            <a:ext cx="2788920" cy="27889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63056" y="1874520"/>
            <a:ext cx="2788920" cy="45720"/>
          </a:xfrm>
          <a:prstGeom prst="rect">
            <a:avLst/>
          </a:prstGeom>
          <a:solidFill>
            <a:srgbClr val="8A96B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9339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6B0"/>
                </a:solidFill>
              </a:rPr>
              <a:t>Protocol Parameters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27648" y="2395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A96B0"/>
                </a:solidFill>
              </a:rPr>
              <a:t>7/10 Multisig — Timelocked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327648" y="2670048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Text 21"/>
          <p:cNvSpPr/>
          <p:nvPr/>
        </p:nvSpPr>
        <p:spPr>
          <a:xfrm>
            <a:off x="6327648" y="2743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Thresholds, tier definitions, and provider criteria are set at launch. Changes require 7-of-10 geographically distributed technical stewards. Separates technical governance from political governance entirely.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0040" y="4590288"/>
            <a:ext cx="8503920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6634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FF"/>
                </a:solidFill>
              </a:rPr>
              <a:t>Governments don't control it — but it's designed so they can mandate it. The EU did this with carbon credits. That's the template.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35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841248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841248"/>
            <a:ext cx="27889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932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D4F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912" y="11887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8912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Protocol + Voluntary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" y="1901952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ETHGlobal Cannes — proof of concept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38912" y="2423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Open-source SDK + protocol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38912" y="28529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Enterprise ESG early adopters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38912" y="3282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Taxai compliance dashboard MVP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38912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Carbon credit precedent 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18688" y="841248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18688" y="841248"/>
            <a:ext cx="278892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3383280" y="932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</a:rPr>
              <a:t>Phase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83280" y="11887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2026–2027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383280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Enterprise Scale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383280" y="1901952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3" name="Text 20"/>
          <p:cNvSpPr/>
          <p:nvPr/>
        </p:nvSpPr>
        <p:spPr>
          <a:xfrm>
            <a:off x="3383280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3–5 AI provider SDK integrations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383280" y="2423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Retraining fund treasury — live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383280" y="28529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Companies under regulatory pressure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383280" y="3282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Council governance formation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383280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XRP disbursements to first programs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63056" y="841248"/>
            <a:ext cx="2788920" cy="4041648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63056" y="841248"/>
            <a:ext cx="278892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0" name="Text 27"/>
          <p:cNvSpPr/>
          <p:nvPr/>
        </p:nvSpPr>
        <p:spPr>
          <a:xfrm>
            <a:off x="6327648" y="932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A0"/>
                </a:solidFill>
              </a:rPr>
              <a:t>Phase 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27648" y="118872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2027+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327648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Legislative Foundation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327648" y="1901952"/>
            <a:ext cx="2487168" cy="27432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4" name="Text 31"/>
          <p:cNvSpPr/>
          <p:nvPr/>
        </p:nvSpPr>
        <p:spPr>
          <a:xfrm>
            <a:off x="6327648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Government API layer — live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327648" y="2423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Jurisdiction-agnostic compliance rail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327648" y="28529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Voluntary → mandatory in EU / US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327648" y="3282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Multi-jurisdiction treasury contracts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327648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Protocol becomes the standard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320040" y="4590288"/>
            <a:ext cx="8503920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46634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B0"/>
                </a:solidFill>
              </a:rPr>
              <a:t>Build the infrastructure before the mandate. That's how every durable compliance standard was established.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</a:rPr>
              <a:t>WHAT WE'RE BUILDING THIS WEEKEND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Hackathon Deliverables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507492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298448"/>
            <a:ext cx="45720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3624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Mock Provider API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16184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5F7FA"/>
                </a:solidFill>
              </a:rPr>
              <a:t>Emits a billing event with enterprise token consumption data. Simulates OpenAI enterprise billing endpoint.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148840"/>
            <a:ext cx="507492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148840"/>
            <a:ext cx="45720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2128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Flare Data Connector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4360" y="2468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5F7FA"/>
                </a:solidFill>
              </a:rPr>
              <a:t>Verifies and attests the billing event on Flare testnet. Uses Flare AI Kit attestation layer.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2999232"/>
            <a:ext cx="507492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2999232"/>
            <a:ext cx="45720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063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Treasury Smart Contract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4360" y="3319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5F7FA"/>
                </a:solidFill>
              </a:rPr>
              <a:t>Receives levy calculation. Single settlement per billing event. Immutable audit trail on Flare.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1480" y="3849624"/>
            <a:ext cx="507492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849624"/>
            <a:ext cx="45720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913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Taxai Dashboard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94360" y="4169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5F7FA"/>
                </a:solidFill>
              </a:rPr>
              <a:t>Simple React UI showing a CFO their contribution in real-time. Audit export. Built on top of the treasury contract.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760720" y="841248"/>
            <a:ext cx="3063240" cy="4023360"/>
          </a:xfrm>
          <a:prstGeom prst="rect">
            <a:avLst/>
          </a:prstGeom>
          <a:solidFill>
            <a:srgbClr val="0A0F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0" y="841248"/>
            <a:ext cx="30632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5925312" y="9326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for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Co-Builder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25312" y="1572768"/>
            <a:ext cx="2743200" cy="3657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7" name="Text 24"/>
          <p:cNvSpPr/>
          <p:nvPr/>
        </p:nvSpPr>
        <p:spPr>
          <a:xfrm>
            <a:off x="5925312" y="1664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6B0"/>
                </a:solidFill>
              </a:rPr>
              <a:t>You bring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25312" y="1938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Solidity / EVM contracts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925312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Flare ecosystem experience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925312" y="27066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Flare AI Kit / FDC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925312" y="3090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</a:rPr>
              <a:t>→  React (dashboard)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925312" y="3547872"/>
            <a:ext cx="2743200" cy="36576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33" name="Text 30"/>
          <p:cNvSpPr/>
          <p:nvPr/>
        </p:nvSpPr>
        <p:spPr>
          <a:xfrm>
            <a:off x="5925312" y="3639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6B0"/>
                </a:solidFill>
              </a:rPr>
              <a:t>I bring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925312" y="391363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Full architecture. Deck ready. Policy + enterprise GTM. A story on every front page today.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A254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35"/>
                </a:solidFill>
              </a:rPr>
              <a:t>THE HARD QUESTIONS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841248"/>
            <a:ext cx="4251960" cy="18288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841248"/>
            <a:ext cx="4251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9509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6B35"/>
                </a:solidFill>
              </a:rPr>
              <a:t>How do you classify agent workflows?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35331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You don't. Token consumption at enterprise API scale is the proxy. A company burning millions of tokens on autonomous agents is generating economic value previously created by human workers. The token is the unit.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251960" cy="18288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841248"/>
            <a:ext cx="4251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509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6B35"/>
                </a:solidFill>
              </a:rPr>
              <a:t>What if enterprises just don't enroll?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35331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Voluntary first — like carbon credits pre-2005. Protocol establishes the standard before mandates. Early adopters get ESG credit + audit trail. Regulatory risk catches up to laggards when laws arrive.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852928"/>
            <a:ext cx="4251960" cy="18288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852928"/>
            <a:ext cx="4251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9626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6B35"/>
                </a:solidFill>
              </a:rPr>
              <a:t>Why won't companies use offshore AI entities?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336499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They will — at first. So did corporations with income tax. The protocol is jurisdiction-agnostic infrastructure governments plug into. We don't enforce. We make enforcement trivially easy when they're ready.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852928"/>
            <a:ext cx="4251960" cy="18288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852928"/>
            <a:ext cx="4251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9626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6B35"/>
                </a:solidFill>
              </a:rPr>
              <a:t>Can you actually build this in 48 hours?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336499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7FA"/>
                </a:solidFill>
              </a:rPr>
              <a:t>No — and we won't pretend to. Cannes deliverable: one mock provider API, one Flare testnet contract, one treasury wallet, one Taxai dashboard. Proof the primitive works. Protocol comes after.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4773168"/>
            <a:ext cx="8503920" cy="16459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4791456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D4FF"/>
                </a:solidFill>
              </a:rPr>
              <a:t>We know the hard problems. We're building the primitive that makes them solvable.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4747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agentic economy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already here.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2697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5F7FA"/>
                </a:solidFill>
              </a:rPr>
              <a:t>AgentLevy Protocol is the infrastructure layer that makes it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5F7FA"/>
                </a:solidFill>
              </a:rPr>
              <a:t>pay its fair share — automatically, transparently, on-chain.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27432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703320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Built on Flare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B0"/>
                </a:solidFill>
              </a:rPr>
              <a:t>Native oracle + AI Kit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767328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64408" y="3703320"/>
            <a:ext cx="27432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64408" y="3703320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1"/>
          <p:cNvSpPr/>
          <p:nvPr/>
        </p:nvSpPr>
        <p:spPr>
          <a:xfrm>
            <a:off x="342900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Enterprise-ready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29000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B0"/>
                </a:solidFill>
              </a:rPr>
              <a:t>Taxai compliance dashboard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63056" y="3703320"/>
            <a:ext cx="27432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63056" y="3703320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5"/>
          <p:cNvSpPr/>
          <p:nvPr/>
        </p:nvSpPr>
        <p:spPr>
          <a:xfrm>
            <a:off x="6327648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XRP Settlement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327648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B0"/>
                </a:solidFill>
              </a:rPr>
              <a:t>Institutional disbursements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76732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6B0"/>
                </a:solidFill>
              </a:rPr>
              <a:t>AgentLevy Protocol  ·  ETHGlobal Cannes  ·  April 2026  ·  Built on Flare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AgentLevy Protocol</dc:title>
  <dc:subject>PptxGenJS Presentation</dc:subject>
  <dc:creator>AgentLevy</dc:creator>
  <cp:lastModifiedBy>AgentLevy</cp:lastModifiedBy>
  <cp:revision>1</cp:revision>
  <dcterms:created xsi:type="dcterms:W3CDTF">2026-03-02T23:02:43Z</dcterms:created>
  <dcterms:modified xsi:type="dcterms:W3CDTF">2026-03-02T23:02:43Z</dcterms:modified>
</cp:coreProperties>
</file>